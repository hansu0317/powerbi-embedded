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1005840"/>
            <a:ext cx="4023360" cy="4023360"/>
          </a:xfrm>
          <a:prstGeom prst="ellipse">
            <a:avLst/>
          </a:prstGeom>
          <a:solidFill>
            <a:srgbClr val="1F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5120640"/>
            <a:ext cx="3657600" cy="3657600"/>
          </a:xfrm>
          <a:prstGeom prst="ellipse">
            <a:avLst/>
          </a:prstGeom>
          <a:solidFill>
            <a:srgbClr val="1F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27080" y="91440"/>
            <a:ext cx="914400" cy="914400"/>
          </a:xfrm>
          <a:prstGeom prst="ellipse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47088"/>
            <a:ext cx="1188720" cy="128016"/>
          </a:xfrm>
          <a:prstGeom prst="roundRect">
            <a:avLst>
              <a:gd name="adj" fmla="val 50000"/>
            </a:avLst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2148840"/>
            <a:ext cx="10607040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POWER BI GATEWAY</a:t>
            </a:r>
          </a:p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C9D1E4"/>
                </a:solidFill>
                <a:latin typeface="맑은 고딕"/>
                <a:ea typeface="맑은 고딕"/>
                <a:cs typeface="맑은 고딕"/>
              </a:rPr>
              <a:t>라이선스 없는 전 직원에게, 추가 비용 없이 Power BI 보고서를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069080"/>
            <a:ext cx="2305019" cy="475488"/>
          </a:xfrm>
          <a:prstGeom prst="roundRect">
            <a:avLst>
              <a:gd name="adj" fmla="val 50000"/>
            </a:avLst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12172D"/>
                </a:solidFill>
                <a:latin typeface="맑은 고딕"/>
                <a:ea typeface="맑은 고딕"/>
                <a:cs typeface="맑은 고딕"/>
              </a:rPr>
              <a:t>추가 비용  ₩0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6579" y="4069080"/>
            <a:ext cx="2305019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12172D"/>
                </a:solidFill>
                <a:latin typeface="맑은 고딕"/>
                <a:ea typeface="맑은 고딕"/>
                <a:cs typeface="맑은 고딕"/>
              </a:rPr>
              <a:t>보고서 7종 운영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0199" y="4069080"/>
            <a:ext cx="3849989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12172D"/>
                </a:solidFill>
                <a:latin typeface="맑은 고딕"/>
                <a:ea typeface="맑은 고딕"/>
                <a:cs typeface="맑은 고딕"/>
              </a:rPr>
              <a:t>2-레이어 접근 제어 · RLS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100584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E97B3"/>
                </a:solidFill>
                <a:latin typeface="맑은 고딕"/>
                <a:ea typeface="맑은 고딕"/>
                <a:cs typeface="맑은 고딕"/>
              </a:rPr>
              <a:t>Qualisoft  ·  사내 BI 포털 구축 프로젝트  ·  2026.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75488"/>
            <a:ext cx="91440" cy="566928"/>
          </a:xfrm>
          <a:prstGeom prst="roundRect">
            <a:avLst>
              <a:gd name="adj" fmla="val 50000"/>
            </a:avLst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100584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배경 — 라이선스가 만든 '보고서의 벽'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32688"/>
            <a:ext cx="107899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보고서는 모두에게 필요하지만, 라이선스는 일부에게만 있다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335024"/>
            <a:ext cx="11073384" cy="0"/>
          </a:xfrm>
          <a:prstGeom prst="line">
            <a:avLst/>
          </a:prstGeom>
          <a:ln w="12700">
            <a:solidFill>
              <a:srgbClr val="D8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691640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600" b="1" i="0">
                <a:solidFill>
                  <a:srgbClr val="D83B01"/>
                </a:solidFill>
                <a:latin typeface="맑은 고딕"/>
                <a:ea typeface="맑은 고딕"/>
                <a:cs typeface="맑은 고딕"/>
              </a:rPr>
              <a:t>₩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50" b="1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열람도 라이선스가 필요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app.powerbi.com의 보고서를 보려면 사용자마다 Power BI Pro 라이선스(월 약 $14/인)가 필요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5112" y="1691640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600" b="1" i="0">
                <a:solidFill>
                  <a:srgbClr val="D83B01"/>
                </a:solidFill>
                <a:latin typeface="맑은 고딕"/>
                <a:ea typeface="맑은 고딕"/>
                <a:cs typeface="맑은 고딕"/>
              </a:rPr>
              <a:t>⇪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50" b="1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게시도 라이선스가 필요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Power BI Desktop의 '게시' 버튼조차 Pro 전용 — 보고서를 만들어도 워크스페이스에 올릴 수 없음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3" y="1691640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600" b="1" i="0">
                <a:solidFill>
                  <a:srgbClr val="D83B01"/>
                </a:solidFill>
                <a:latin typeface="맑은 고딕"/>
                <a:ea typeface="맑은 고딕"/>
                <a:cs typeface="맑은 고딕"/>
              </a:rPr>
              <a:t>⚠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50" b="1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전원 지급은 비현실적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보고서를 봐야 하는 직원 모두에게 라이선스를 지급하면 매월 고정 비용이 인원수에 비례해 증가</a:t>
            </a:r>
          </a:p>
        </p:txBody>
      </p:sp>
      <p:sp>
        <p:nvSpPr>
          <p:cNvPr id="9" name="Down Arrow 8"/>
          <p:cNvSpPr/>
          <p:nvPr/>
        </p:nvSpPr>
        <p:spPr>
          <a:xfrm>
            <a:off x="5733288" y="4224528"/>
            <a:ext cx="731520" cy="50292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4892040"/>
            <a:ext cx="11091672" cy="1325880"/>
          </a:xfrm>
          <a:prstGeom prst="roundRect">
            <a:avLst>
              <a:gd name="adj" fmla="val 8000"/>
            </a:avLst>
          </a:prstGeom>
          <a:solidFill>
            <a:srgbClr val="12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 i="0">
                <a:solidFill>
                  <a:srgbClr val="F2C811"/>
                </a:solidFill>
                <a:latin typeface="맑은 고딕"/>
                <a:ea typeface="맑은 고딕"/>
                <a:cs typeface="맑은 고딕"/>
              </a:rPr>
              <a:t>목표  </a:t>
            </a:r>
            <a:r>
              <a:rPr sz="17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라이선스 없는 직원도, 브라우저 하나로, 자기 권한에 맞는 보고서만 본다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C9D1E4"/>
                </a:solidFill>
                <a:latin typeface="맑은 고딕"/>
                <a:ea typeface="맑은 고딕"/>
                <a:cs typeface="맑은 고딕"/>
              </a:rPr>
              <a:t>기존 회사 Power BI 라이선스(서비스 주체)를 활용 — 사용자별 라이선스 추가 구매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Qualisoft  ·  Power BI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64008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75488"/>
            <a:ext cx="91440" cy="566928"/>
          </a:xfrm>
          <a:prstGeom prst="roundRect">
            <a:avLst>
              <a:gd name="adj" fmla="val 50000"/>
            </a:avLst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100584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솔루션 — 사내 게이트웨이가 라이선스를 대신한다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32688"/>
            <a:ext cx="107899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직원과 Microsoft Fabric 사이에 게이트웨이 서버 하나를 둔다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335024"/>
            <a:ext cx="11073384" cy="0"/>
          </a:xfrm>
          <a:prstGeom prst="line">
            <a:avLst/>
          </a:prstGeom>
          <a:ln w="12700">
            <a:solidFill>
              <a:srgbClr val="D8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2240280"/>
            <a:ext cx="2743200" cy="155448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1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직원</a:t>
            </a:r>
          </a:p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브라우저만 있으면 OK
라이선스 불필요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611880" y="2743200"/>
            <a:ext cx="868680" cy="54864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63440" y="1920240"/>
            <a:ext cx="2834640" cy="2194560"/>
          </a:xfrm>
          <a:prstGeom prst="roundRect">
            <a:avLst>
              <a:gd name="adj" fmla="val 8000"/>
            </a:avLst>
          </a:prstGeom>
          <a:solidFill>
            <a:srgbClr val="12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Power BI Gateway</a:t>
            </a:r>
          </a:p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sz="1200" b="0" i="0">
                <a:solidFill>
                  <a:srgbClr val="F2C811"/>
                </a:solidFill>
                <a:latin typeface="맑은 고딕"/>
                <a:ea typeface="맑은 고딕"/>
                <a:cs typeface="맑은 고딕"/>
              </a:rPr>
              <a:t>FastAPI 서버</a:t>
            </a:r>
          </a:p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C9D1E4"/>
                </a:solidFill>
                <a:latin typeface="맑은 고딕"/>
                <a:ea typeface="맑은 고딕"/>
                <a:cs typeface="맑은 고딕"/>
              </a:rPr>
              <a:t>로그인 · 권한 확인
Embed Token 발급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680960" y="2743200"/>
            <a:ext cx="868680" cy="54864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32520" y="2240280"/>
            <a:ext cx="2743200" cy="1554480"/>
          </a:xfrm>
          <a:prstGeom prst="roundRect">
            <a:avLst>
              <a:gd name="adj" fmla="val 8000"/>
            </a:avLst>
          </a:prstGeom>
          <a:solidFill>
            <a:srgbClr val="0E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Microsoft Fabric</a:t>
            </a:r>
          </a:p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D2EFEA"/>
                </a:solidFill>
                <a:latin typeface="맑은 고딕"/>
                <a:ea typeface="맑은 고딕"/>
                <a:cs typeface="맑은 고딕"/>
              </a:rPr>
              <a:t>app.powerbi.com
BI_Report 워크스페이스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709160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1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추가 비용 0원</a:t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회사가 이미 보유한 라이선스로 서비스 주체(App)가 토큰을 발급 — 사용자 라이선스 불필요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9160"/>
            <a:ext cx="3520440" cy="64008"/>
          </a:xfrm>
          <a:prstGeom prst="roundRect">
            <a:avLst>
              <a:gd name="adj" fmla="val 0"/>
            </a:avLst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25112" y="4709160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1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권한은 사내 DB로 관리</a:t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계정·보고서 권한을 PostgreSQL로 직접 관리 — SQL 몇 줄로 사용자 추가/회수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4709160"/>
            <a:ext cx="3520440" cy="64008"/>
          </a:xfrm>
          <a:prstGeom prst="roundRect">
            <a:avLst>
              <a:gd name="adj" fmla="val 0"/>
            </a:avLst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01583" y="4709160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1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데이터는 직접 스트리밍</a:t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보고서 데이터는 Fabric ↔ 브라우저 직접 통신 — 게이트웨이는 데이터를 통과시키지 않음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4709160"/>
            <a:ext cx="3520440" cy="64008"/>
          </a:xfrm>
          <a:prstGeom prst="roundRect">
            <a:avLst>
              <a:gd name="adj" fmla="val 0"/>
            </a:avLst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Qualisoft  ·  Power BI Gateway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64008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75488"/>
            <a:ext cx="91440" cy="566928"/>
          </a:xfrm>
          <a:prstGeom prst="roundRect">
            <a:avLst>
              <a:gd name="adj" fmla="val 50000"/>
            </a:avLst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100584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전체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32688"/>
            <a:ext cx="107899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인증·권한은 게이트웨이가, 렌더링 데이터는 Fabric이 직접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335024"/>
            <a:ext cx="11073384" cy="0"/>
          </a:xfrm>
          <a:prstGeom prst="line">
            <a:avLst/>
          </a:prstGeom>
          <a:ln w="12700">
            <a:solidFill>
              <a:srgbClr val="D8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2103120"/>
            <a:ext cx="2377440" cy="228600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500" b="1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직원 PC</a:t>
            </a:r>
          </a:p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브라우저 (SPA)</a:t>
            </a:r>
          </a:p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powerbi-client SDK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691640"/>
            <a:ext cx="3246120" cy="3108960"/>
          </a:xfrm>
          <a:prstGeom prst="roundRect">
            <a:avLst>
              <a:gd name="adj" fmla="val 8000"/>
            </a:avLst>
          </a:prstGeom>
          <a:solidFill>
            <a:srgbClr val="12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5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Power BI Gateway</a:t>
            </a:r>
          </a:p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1150" b="0" i="0">
                <a:solidFill>
                  <a:srgbClr val="F2C811"/>
                </a:solidFill>
                <a:latin typeface="맑은 고딕"/>
                <a:ea typeface="맑은 고딕"/>
                <a:cs typeface="맑은 고딕"/>
              </a:rPr>
              <a:t>FastAPI · :8082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00" b="0" i="0">
                <a:solidFill>
                  <a:srgbClr val="C9D1E4"/>
                </a:solidFill>
                <a:latin typeface="맑은 고딕"/>
                <a:ea typeface="맑은 고딕"/>
                <a:cs typeface="맑은 고딕"/>
              </a:rPr>
              <a:t>세션 로그인 (bcrypt)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00" b="0" i="0">
                <a:solidFill>
                  <a:srgbClr val="C9D1E4"/>
                </a:solidFill>
                <a:latin typeface="맑은 고딕"/>
                <a:ea typeface="맑은 고딕"/>
                <a:cs typeface="맑은 고딕"/>
              </a:rPr>
              <a:t>보고서 권한 체크</a:t>
            </a:r>
          </a:p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C9D1E4"/>
                </a:solidFill>
                <a:latin typeface="맑은 고딕"/>
                <a:ea typeface="맑은 고딕"/>
                <a:cs typeface="맑은 고딕"/>
              </a:rPr>
              <a:t>Embed Token 발급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507492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EA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t>PostgreSQL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t>10개 테이블 · 커넥션 풀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t>계정 · 권한 · 이력 관리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79008" y="4800600"/>
            <a:ext cx="0" cy="274320"/>
          </a:xfrm>
          <a:prstGeom prst="line">
            <a:avLst/>
          </a:prstGeom>
          <a:ln w="19050">
            <a:solidFill>
              <a:srgbClr val="666C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052560" y="16916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Azure AD</a:t>
            </a:r>
          </a:p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D6EAFB"/>
                </a:solidFill>
                <a:latin typeface="맑은 고딕"/>
                <a:ea typeface="맑은 고딕"/>
                <a:cs typeface="맑은 고딕"/>
              </a:rPr>
              <a:t>서비스 주체 인증
(Client Credentials)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34290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0E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Microsoft Fabric</a:t>
            </a:r>
          </a:p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D2EFEA"/>
                </a:solidFill>
                <a:latin typeface="맑은 고딕"/>
                <a:ea typeface="맑은 고딕"/>
                <a:cs typeface="맑은 고딕"/>
              </a:rPr>
              <a:t>Power BI REST API
BI_Report 워크스페이스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26080" y="3017520"/>
            <a:ext cx="1234440" cy="0"/>
          </a:xfrm>
          <a:prstGeom prst="line">
            <a:avLst/>
          </a:prstGeom>
          <a:ln w="25400">
            <a:solidFill>
              <a:srgbClr val="666C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788920" y="2606040"/>
            <a:ext cx="155448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① 로그인 · 토큰 요청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06640" y="2377440"/>
            <a:ext cx="1645920" cy="0"/>
          </a:xfrm>
          <a:prstGeom prst="line">
            <a:avLst/>
          </a:prstGeom>
          <a:ln w="25400">
            <a:solidFill>
              <a:srgbClr val="007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60920" y="1993392"/>
            <a:ext cx="173736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0078D4"/>
                </a:solidFill>
                <a:latin typeface="맑은 고딕"/>
                <a:ea typeface="맑은 고딕"/>
                <a:cs typeface="맑은 고딕"/>
              </a:rPr>
              <a:t>② AAD 토큰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06640" y="4114800"/>
            <a:ext cx="1645920" cy="0"/>
          </a:xfrm>
          <a:prstGeom prst="line">
            <a:avLst/>
          </a:prstGeom>
          <a:ln w="25400">
            <a:solidFill>
              <a:srgbClr val="0E8A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269480" y="4224528"/>
            <a:ext cx="18288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0E8A7A"/>
                </a:solidFill>
                <a:latin typeface="맑은 고딕"/>
                <a:ea typeface="맑은 고딕"/>
                <a:cs typeface="맑은 고딕"/>
              </a:rPr>
              <a:t>③ Embed Token 발급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737360" y="4389120"/>
            <a:ext cx="0" cy="1508760"/>
          </a:xfrm>
          <a:prstGeom prst="line">
            <a:avLst/>
          </a:prstGeom>
          <a:ln w="28575">
            <a:solidFill>
              <a:srgbClr val="F2C81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737360" y="5897880"/>
            <a:ext cx="8595360" cy="0"/>
          </a:xfrm>
          <a:prstGeom prst="line">
            <a:avLst/>
          </a:prstGeom>
          <a:ln w="28575">
            <a:solidFill>
              <a:srgbClr val="F2C81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0332720" y="4800600"/>
            <a:ext cx="0" cy="1097280"/>
          </a:xfrm>
          <a:prstGeom prst="line">
            <a:avLst/>
          </a:prstGeom>
          <a:ln w="28575">
            <a:solidFill>
              <a:srgbClr val="F2C81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635240" y="5650992"/>
            <a:ext cx="3657600" cy="4937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2C8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④ 보고서 렌더링 — 데이터는 서버 미경유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Qualisoft  ·  Power BI Gateway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73952"/>
            <a:ext cx="64008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75488"/>
            <a:ext cx="91440" cy="566928"/>
          </a:xfrm>
          <a:prstGeom prst="roundRect">
            <a:avLst>
              <a:gd name="adj" fmla="val 50000"/>
            </a:avLst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100584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동작 흐름 — 접속부터 보고서까지 5단계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32688"/>
            <a:ext cx="107899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사용자는 로그인 한 번이면 끝, 나머지는 서버가 처리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335024"/>
            <a:ext cx="11073384" cy="0"/>
          </a:xfrm>
          <a:prstGeom prst="line">
            <a:avLst/>
          </a:prstGeom>
          <a:ln w="12700">
            <a:solidFill>
              <a:srgbClr val="D8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hevron 5"/>
          <p:cNvSpPr/>
          <p:nvPr/>
        </p:nvSpPr>
        <p:spPr>
          <a:xfrm>
            <a:off x="502920" y="1828800"/>
            <a:ext cx="2112264" cy="502920"/>
          </a:xfrm>
          <a:prstGeom prst="chevron">
            <a:avLst/>
          </a:prstGeom>
          <a:solidFill>
            <a:srgbClr val="EA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STEP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60320"/>
            <a:ext cx="2112264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sz="1550" b="1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접속</a:t>
            </a:r>
          </a:p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http://192.168.56.10:8082
미로그인 시 로그인 페이지로</a:t>
            </a:r>
          </a:p>
        </p:txBody>
      </p:sp>
      <p:sp>
        <p:nvSpPr>
          <p:cNvPr id="8" name="Chevron 7"/>
          <p:cNvSpPr/>
          <p:nvPr/>
        </p:nvSpPr>
        <p:spPr>
          <a:xfrm>
            <a:off x="2798063" y="1828800"/>
            <a:ext cx="2112264" cy="502920"/>
          </a:xfrm>
          <a:prstGeom prst="chevron">
            <a:avLst/>
          </a:prstGeom>
          <a:solidFill>
            <a:srgbClr val="EA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STEP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98063" y="2560320"/>
            <a:ext cx="2112264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sz="1550" b="1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로그인</a:t>
            </a:r>
          </a:p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PostgreSQL 계정 확인
bcrypt 검증 → 세션 쿠키</a:t>
            </a:r>
          </a:p>
        </p:txBody>
      </p:sp>
      <p:sp>
        <p:nvSpPr>
          <p:cNvPr id="10" name="Chevron 9"/>
          <p:cNvSpPr/>
          <p:nvPr/>
        </p:nvSpPr>
        <p:spPr>
          <a:xfrm>
            <a:off x="5093207" y="1828800"/>
            <a:ext cx="2112264" cy="502920"/>
          </a:xfrm>
          <a:prstGeom prst="chevron">
            <a:avLst/>
          </a:prstGeom>
          <a:solidFill>
            <a:srgbClr val="EA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STEP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93207" y="2560320"/>
            <a:ext cx="2112264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sz="1550" b="1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내 보고서 목록</a:t>
            </a:r>
          </a:p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user_reports 조회
허용된 보고서만 사이드바에</a:t>
            </a:r>
          </a:p>
        </p:txBody>
      </p:sp>
      <p:sp>
        <p:nvSpPr>
          <p:cNvPr id="12" name="Chevron 11"/>
          <p:cNvSpPr/>
          <p:nvPr/>
        </p:nvSpPr>
        <p:spPr>
          <a:xfrm>
            <a:off x="7388352" y="1828800"/>
            <a:ext cx="2112264" cy="502920"/>
          </a:xfrm>
          <a:prstGeom prst="chevron">
            <a:avLst/>
          </a:prstGeom>
          <a:solidFill>
            <a:srgbClr val="EA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STEP 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88352" y="2560320"/>
            <a:ext cx="2112264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sz="1550" b="1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토큰 발급</a:t>
            </a:r>
          </a:p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권한 체크 → AAD 인증
→ Embed Token 생성</a:t>
            </a:r>
          </a:p>
        </p:txBody>
      </p:sp>
      <p:sp>
        <p:nvSpPr>
          <p:cNvPr id="14" name="Chevron 13"/>
          <p:cNvSpPr/>
          <p:nvPr/>
        </p:nvSpPr>
        <p:spPr>
          <a:xfrm>
            <a:off x="9683496" y="1828800"/>
            <a:ext cx="2112264" cy="502920"/>
          </a:xfrm>
          <a:prstGeom prst="chevron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12172D"/>
                </a:solidFill>
                <a:latin typeface="맑은 고딕"/>
                <a:ea typeface="맑은 고딕"/>
                <a:cs typeface="맑은 고딕"/>
              </a:rPr>
              <a:t>STEP 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83496" y="2560320"/>
            <a:ext cx="2112264" cy="1965960"/>
          </a:xfrm>
          <a:prstGeom prst="roundRect">
            <a:avLst>
              <a:gd name="adj" fmla="val 8000"/>
            </a:avLst>
          </a:prstGeom>
          <a:solidFill>
            <a:srgbClr val="12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sz="15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렌더링</a:t>
            </a:r>
          </a:p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C9D1E4"/>
                </a:solidFill>
                <a:latin typeface="맑은 고딕"/>
                <a:ea typeface="맑은 고딕"/>
                <a:cs typeface="맑은 고딕"/>
              </a:rPr>
              <a:t>powerbi-client SDK가
Fabric에서 직접 로드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83480"/>
            <a:ext cx="11091672" cy="118872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1" i="0">
                <a:solidFill>
                  <a:srgbClr val="0E8A7A"/>
                </a:solidFill>
                <a:latin typeface="맑은 고딕"/>
                <a:ea typeface="맑은 고딕"/>
                <a:cs typeface="맑은 고딕"/>
              </a:rPr>
              <a:t>핵심  </a:t>
            </a:r>
            <a:r>
              <a:rPr sz="1400" b="1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실제 보고서 데이터는 Fabric ↔ 브라우저 직접 통신. 게이트웨이는 인증·권한·토큰만 담당하므로 가볍고 빠르다.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여러 보고서를 탭으로 동시에 열람 — 탭 전환 시 재로드 없이 숨김/표시만 수행 (SPA)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Qualisoft  ·  Power BI Gateway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64008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75488"/>
            <a:ext cx="91440" cy="566928"/>
          </a:xfrm>
          <a:prstGeom prst="roundRect">
            <a:avLst>
              <a:gd name="adj" fmla="val 50000"/>
            </a:avLst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100584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2-레이어 접근 제어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32688"/>
            <a:ext cx="107899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'어떤 보고서를 보는가'와 '어떤 데이터 행을 보는가'를 분리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335024"/>
            <a:ext cx="11073384" cy="0"/>
          </a:xfrm>
          <a:prstGeom prst="line">
            <a:avLst/>
          </a:prstGeom>
          <a:ln w="12700">
            <a:solidFill>
              <a:srgbClr val="D8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69164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700" b="1" i="0">
                <a:solidFill>
                  <a:srgbClr val="12172D"/>
                </a:solidFill>
                <a:latin typeface="맑은 고딕"/>
                <a:ea typeface="맑은 고딕"/>
                <a:cs typeface="맑은 고딕"/>
              </a:rPr>
              <a:t>레이어 1 </a:t>
            </a:r>
            <a:r>
              <a:rPr sz="1450" b="1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  게이트웨이 — 보고서 단위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150" b="1" i="0">
                <a:solidFill>
                  <a:srgbClr val="0E8A7A"/>
                </a:solidFill>
                <a:latin typeface="맑은 고딕"/>
                <a:ea typeface="맑은 고딕"/>
                <a:cs typeface="맑은 고딕"/>
              </a:rPr>
              <a:t>적용 완료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• user_reports 테이블로 사용자별 허용 보고서 관리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• 권한 없는 보고서는 목록에 노출되지 않음 — 존재 자체를 모름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• API 직접 호출도 차단 (미로그인 401 / 권한 없음 403)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• 예: user01은 '생산현황'만, admin은 전체 7종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40680" cy="73152"/>
          </a:xfrm>
          <a:prstGeom prst="roundRect">
            <a:avLst>
              <a:gd name="adj" fmla="val 0"/>
            </a:avLst>
          </a:prstGeom>
          <a:solidFill>
            <a:srgbClr val="12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99632" y="169164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700" b="1" i="0">
                <a:solidFill>
                  <a:srgbClr val="0E8A7A"/>
                </a:solidFill>
                <a:latin typeface="맑은 고딕"/>
                <a:ea typeface="맑은 고딕"/>
                <a:cs typeface="맑은 고딕"/>
              </a:rPr>
              <a:t>레이어 2 </a:t>
            </a:r>
            <a:r>
              <a:rPr sz="1450" b="1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  Fabric RLS — 데이터 행 단위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150" b="1" i="0">
                <a:solidFill>
                  <a:srgbClr val="D83B01"/>
                </a:solidFill>
                <a:latin typeface="맑은 고딕"/>
                <a:ea typeface="맑은 고딕"/>
                <a:cs typeface="맑은 고딕"/>
              </a:rPr>
              <a:t>구조 완비 · Fabric DAX 필터 설정 시 즉시 적용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• 같은 보고서라도 사람마다 보이는 데이터 행이 다름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• GenerateToken에 DB의 pbi_username + roles를 identity로 전달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• Power BI 공식 RLS 방식 — Fabric 역할에 DAX 필터만 추가하면 동작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• 예: 생산팀장은 전체 공장, 일반 직원은 본인 데이터만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691640"/>
            <a:ext cx="5440680" cy="73152"/>
          </a:xfrm>
          <a:prstGeom prst="roundRect">
            <a:avLst>
              <a:gd name="adj" fmla="val 0"/>
            </a:avLst>
          </a:prstGeom>
          <a:solidFill>
            <a:srgbClr val="0E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983480"/>
            <a:ext cx="27432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보안 현황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39496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EA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2000"/>
              </a:lnSpc>
            </a:pPr>
            <a:r>
              <a:rPr sz="1150" b="1" i="0">
                <a:solidFill>
                  <a:srgbClr val="1F274A"/>
                </a:solidFill>
                <a:latin typeface="맑은 고딕"/>
                <a:ea typeface="맑은 고딕"/>
                <a:cs typeface="맑은 고딕"/>
              </a:rPr>
              <a:t>✓ bcrypt 해시 저장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4136" y="539496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EA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2000"/>
              </a:lnSpc>
            </a:pPr>
            <a:r>
              <a:rPr sz="1150" b="1" i="0">
                <a:solidFill>
                  <a:srgbClr val="1F274A"/>
                </a:solidFill>
                <a:latin typeface="맑은 고딕"/>
                <a:ea typeface="맑은 고딕"/>
                <a:cs typeface="맑은 고딕"/>
              </a:rPr>
              <a:t>✓ 세션 8시간 만료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539496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EA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2000"/>
              </a:lnSpc>
            </a:pPr>
            <a:r>
              <a:rPr sz="1150" b="1" i="0">
                <a:solidFill>
                  <a:srgbClr val="1F274A"/>
                </a:solidFill>
                <a:latin typeface="맑은 고딕"/>
                <a:ea typeface="맑은 고딕"/>
                <a:cs typeface="맑은 고딕"/>
              </a:rPr>
              <a:t>✓ DB 로컬 전용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88551" y="539496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EA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2000"/>
              </a:lnSpc>
            </a:pPr>
            <a:r>
              <a:rPr sz="1150" b="1" i="0">
                <a:solidFill>
                  <a:srgbClr val="1F274A"/>
                </a:solidFill>
                <a:latin typeface="맑은 고딕"/>
                <a:ea typeface="맑은 고딕"/>
                <a:cs typeface="맑은 고딕"/>
              </a:rPr>
              <a:t>✓ .env 분리 (git 제외)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Qualisoft  ·  Power BI 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75488"/>
            <a:ext cx="91440" cy="566928"/>
          </a:xfrm>
          <a:prstGeom prst="roundRect">
            <a:avLst>
              <a:gd name="adj" fmla="val 50000"/>
            </a:avLst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100584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RLS — 같은 보고서, 사람마다 다른 데이터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32688"/>
            <a:ext cx="107899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DB의 identity가 Fabric의 DAX 필터와 만나는 구조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335024"/>
            <a:ext cx="11073384" cy="0"/>
          </a:xfrm>
          <a:prstGeom prst="line">
            <a:avLst/>
          </a:prstGeom>
          <a:ln w="12700">
            <a:solidFill>
              <a:srgbClr val="D8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783080"/>
            <a:ext cx="3108960" cy="169164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350" b="1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① PostgreSQL users</a:t>
            </a:r>
          </a:p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pbi_username = "1001"
roles = "RLS_사번"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794760" y="2377440"/>
            <a:ext cx="640080" cy="4572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0" y="1783080"/>
            <a:ext cx="3108960" cy="1691640"/>
          </a:xfrm>
          <a:prstGeom prst="roundRect">
            <a:avLst>
              <a:gd name="adj" fmla="val 8000"/>
            </a:avLst>
          </a:prstGeom>
          <a:solidFill>
            <a:srgbClr val="12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GenerateToken</a:t>
            </a:r>
          </a:p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C9D1E4"/>
                </a:solidFill>
                <a:latin typeface="맑은 고딕"/>
                <a:ea typeface="맑은 고딕"/>
                <a:cs typeface="맑은 고딕"/>
              </a:rPr>
              <a:t>identity에 username과
roles를 담아 토큰 발급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818120" y="2377440"/>
            <a:ext cx="640080" cy="4572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95360" y="1783080"/>
            <a:ext cx="3063240" cy="1691640"/>
          </a:xfrm>
          <a:prstGeom prst="roundRect">
            <a:avLst>
              <a:gd name="adj" fmla="val 8000"/>
            </a:avLst>
          </a:prstGeom>
          <a:solidFill>
            <a:srgbClr val="0E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Fabric DAX 필터</a:t>
            </a:r>
          </a:p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2EFEA"/>
                </a:solidFill>
                <a:latin typeface="맑은 고딕"/>
                <a:ea typeface="맑은 고딕"/>
                <a:cs typeface="맑은 고딕"/>
              </a:rPr>
              <a:t>[사번] = USERNAME()
→ 사번 1001 행만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40480"/>
            <a:ext cx="5440680" cy="2240280"/>
          </a:xfrm>
          <a:prstGeom prst="roundRect">
            <a:avLst>
              <a:gd name="adj" fmla="val 8000"/>
            </a:avLst>
          </a:prstGeom>
          <a:solidFill>
            <a:srgbClr val="1B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1" i="0">
                <a:solidFill>
                  <a:srgbClr val="F2C811"/>
                </a:solidFill>
                <a:latin typeface="맑은 고딕"/>
                <a:ea typeface="맑은 고딕"/>
                <a:cs typeface="맑은 고딕"/>
              </a:rPr>
              <a:t>GenerateToken에 전달되는 identity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B9E38D"/>
                </a:solidFill>
                <a:latin typeface="Consolas"/>
                <a:ea typeface="Consolas"/>
                <a:cs typeface="Consolas"/>
              </a:rPr>
              <a:t>  "username": "1001",          # DB의 pbi_username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B9E38D"/>
                </a:solidFill>
                <a:latin typeface="Consolas"/>
                <a:ea typeface="Consolas"/>
                <a:cs typeface="Consolas"/>
              </a:rPr>
              <a:t>  "roles":    ["RLS_사번"],     # DB의 roles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B9E38D"/>
                </a:solidFill>
                <a:latin typeface="Consolas"/>
                <a:ea typeface="Consolas"/>
                <a:cs typeface="Consolas"/>
              </a:rPr>
              <a:t>  "datasets": ["dataset-id"]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3840480"/>
            <a:ext cx="544068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50" b="1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실제 데모 (rls01 계정)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1" i="0">
                <a:solidFill>
                  <a:srgbClr val="12172D"/>
                </a:solidFill>
                <a:latin typeface="맑은 고딕"/>
                <a:ea typeface="맑은 고딕"/>
                <a:cs typeface="맑은 고딕"/>
              </a:rPr>
              <a:t>admin 계정  </a:t>
            </a:r>
            <a:r>
              <a:rPr sz="125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→  '도메인' 역할 (필터 없음) — 전체 데이터 표시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250" b="1" i="0">
                <a:solidFill>
                  <a:srgbClr val="0E8A7A"/>
                </a:solidFill>
                <a:latin typeface="맑은 고딕"/>
                <a:ea typeface="맑은 고딕"/>
                <a:cs typeface="맑은 고딕"/>
              </a:rPr>
              <a:t>rls01 계정  </a:t>
            </a:r>
            <a:r>
              <a:rPr sz="125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→  'RLS_사번' 역할 — 사번 1001 행만 표시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운영 전환 시 pbi_username을 실제 AD 이메일로, roles를 HR_RLS로 교체하면 부서·직급별 필터로 확장 가능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Qualisoft  ·  Power BI 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73952"/>
            <a:ext cx="64008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75488"/>
            <a:ext cx="91440" cy="566928"/>
          </a:xfrm>
          <a:prstGeom prst="roundRect">
            <a:avLst>
              <a:gd name="adj" fmla="val 50000"/>
            </a:avLst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100584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t>보고서 게시 — 2가지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32688"/>
            <a:ext cx="107899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t>서비스 주체가 대신 게시 — 관리자 CLI(공용) 또는 직원 웹 업로드(개인)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335024"/>
            <a:ext cx="11073384" cy="0"/>
          </a:xfrm>
          <a:prstGeom prst="line">
            <a:avLst/>
          </a:prstGeom>
          <a:ln w="12700">
            <a:solidFill>
              <a:srgbClr val="D8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828800"/>
            <a:ext cx="2514600" cy="178308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t>방법 1. 관리자 CLI</a:t>
            </a:r>
          </a:p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t>공용 보고서 (managed)</a:t>
            </a:r>
          </a:p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t>담당자 .pbix → 관리자 게시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27248" y="2514600"/>
            <a:ext cx="365760" cy="38404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56432" y="1828800"/>
            <a:ext cx="2514600" cy="178308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t>python3 scripts/publish_pbix.py</a:t>
            </a:r>
          </a:p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t>생산현황.pbix → Fabric 공용 등록</a:t>
            </a:r>
          </a:p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t>지정 사용자에게 SQL로 권한 부여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35040" y="2514600"/>
            <a:ext cx="365760" cy="38404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64224" y="1828800"/>
            <a:ext cx="2514600" cy="1783080"/>
          </a:xfrm>
          <a:prstGeom prst="roundRect">
            <a:avLst>
              <a:gd name="adj" fmla="val 8000"/>
            </a:avLst>
          </a:prstGeom>
          <a:solidFill>
            <a:srgbClr val="12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t>방법 2. 직원 웹 업로드</a:t>
            </a:r>
          </a:p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t>개인 보고서 (personal)</a:t>
            </a:r>
          </a:p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t>Power BI Desktop(무료)으로 제작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942832" y="2514600"/>
            <a:ext cx="365760" cy="38404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72016" y="1828800"/>
            <a:ext cx="2514600" cy="1783080"/>
          </a:xfrm>
          <a:prstGeom prst="roundRect">
            <a:avLst>
              <a:gd name="adj" fmla="val 8000"/>
            </a:avLst>
          </a:prstGeom>
          <a:solidFill>
            <a:srgbClr val="0E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t>브라우저에서 .pbix 직접 선택</a:t>
            </a:r>
          </a:p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t>내 Fabric 폴더에 자동 게시</a:t>
            </a:r>
          </a:p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t>본인 + 관리자 권한 자동 부여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1B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2000"/>
              </a:lnSpc>
            </a:pPr>
            <a:r>
              <a:t>이름 충돌 시: Fabric 임시 항목 자동 삭제(롤백) → 다른 이름으로 재시도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3931920"/>
            <a:ext cx="4233672" cy="91440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2000"/>
              </a:lnSpc>
            </a:pPr>
            <a:r>
              <a:t>⚠  Fabric 워크스페이스 전체에서 보고서 표시 이름이 유일해야 함 (폴더 무관)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120640"/>
            <a:ext cx="11091672" cy="105156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t>설계 원칙  기존 Fabric 항목은 수정·이동·삭제하지 않음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t>신규 게시(Import)만 수행 — 기존 보고서에 영향 없음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Qualisoft  ·  Power BI Gateway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64008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75488"/>
            <a:ext cx="91440" cy="566928"/>
          </a:xfrm>
          <a:prstGeom prst="roundRect">
            <a:avLst>
              <a:gd name="adj" fmla="val 50000"/>
            </a:avLst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100584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t>구현된 기능 전체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32688"/>
            <a:ext cx="107899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t>처음부터 끝까지 완성된 기능 목록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335024"/>
            <a:ext cx="11073384" cy="0"/>
          </a:xfrm>
          <a:prstGeom prst="line">
            <a:avLst/>
          </a:prstGeom>
          <a:ln w="12700">
            <a:solidFill>
              <a:srgbClr val="D8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783080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t>보고서 열람 (SPA)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t>탭 전환 시 재로드 없음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t>권한 없는 보고서 완전 차단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502920" cy="82296"/>
          </a:xfrm>
          <a:prstGeom prst="roundRect">
            <a:avLst>
              <a:gd name="adj" fmla="val 0"/>
            </a:avLst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25112" y="1783080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t>2-레이어 접근 제어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t>보고서 단위 권한 (user_reports)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t>Fabric RLS identity 자동 전달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9703" y="1783080"/>
            <a:ext cx="502920" cy="82296"/>
          </a:xfrm>
          <a:prstGeom prst="roundRect">
            <a:avLst>
              <a:gd name="adj" fmla="val 0"/>
            </a:avLst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01583" y="1783080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t>직원 웹 업로드 (.pbix)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t>개인 보고서 직접 게시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t>본인+관리자 권한 자동 부여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66175" y="1783080"/>
            <a:ext cx="502920" cy="82296"/>
          </a:xfrm>
          <a:prstGeom prst="roundRect">
            <a:avLst>
              <a:gd name="adj" fmla="val 0"/>
            </a:avLst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977639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t>관리자 CLI 게시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t>publish_pbix.py 공용 보고서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t>import_fabric_reports.py 일괄 등록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977639"/>
            <a:ext cx="502920" cy="82296"/>
          </a:xfrm>
          <a:prstGeom prst="roundRect">
            <a:avLst>
              <a:gd name="adj" fmla="val 0"/>
            </a:avLst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5112" y="3977639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t>Fabric 자동 동기화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t>Fabric 삭제 → DB 자동 반영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t>3가지 경로 (주기·열람·수동)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9703" y="3977639"/>
            <a:ext cx="502920" cy="82296"/>
          </a:xfrm>
          <a:prstGeom prst="roundRect">
            <a:avLst>
              <a:gd name="adj" fmla="val 0"/>
            </a:avLst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01583" y="3977639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t>업로드 안전성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t>충돌 시 Fabric 자동 롤백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t>서버 재시작 시 업로드 자동 복구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66175" y="3977639"/>
            <a:ext cx="502920" cy="82296"/>
          </a:xfrm>
          <a:prstGeom prst="roundRect">
            <a:avLst>
              <a:gd name="adj" fmla="val 0"/>
            </a:avLst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Qualisoft  ·  Power BI Gateway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75488"/>
            <a:ext cx="91440" cy="566928"/>
          </a:xfrm>
          <a:prstGeom prst="roundRect">
            <a:avLst>
              <a:gd name="adj" fmla="val 50000"/>
            </a:avLst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100584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기술 스택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32688"/>
            <a:ext cx="107899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검증된 오픈소스 + Microsoft 공식 API 조합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335024"/>
            <a:ext cx="11073384" cy="0"/>
          </a:xfrm>
          <a:prstGeom prst="line">
            <a:avLst/>
          </a:prstGeom>
          <a:ln w="12700">
            <a:solidFill>
              <a:srgbClr val="D8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783080"/>
            <a:ext cx="2331720" cy="566928"/>
          </a:xfrm>
          <a:prstGeom prst="roundRect">
            <a:avLst>
              <a:gd name="adj" fmla="val 18000"/>
            </a:avLst>
          </a:prstGeom>
          <a:solidFill>
            <a:srgbClr val="12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2000"/>
              </a:lnSpc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백엔드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1783080"/>
            <a:ext cx="8577072" cy="566928"/>
          </a:xfrm>
          <a:prstGeom prst="roundRect">
            <a:avLst>
              <a:gd name="adj" fmla="val 18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Python 3.11 · FastAPI · uvicorn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96312"/>
            <a:ext cx="2331720" cy="566928"/>
          </a:xfrm>
          <a:prstGeom prst="roundRect">
            <a:avLst>
              <a:gd name="adj" fmla="val 18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2000"/>
              </a:lnSpc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Azure 인증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2496312"/>
            <a:ext cx="8577072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msal — Client Credentials Flow (서비스 주체)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9544"/>
            <a:ext cx="2331720" cy="566928"/>
          </a:xfrm>
          <a:prstGeom prst="roundRect">
            <a:avLst>
              <a:gd name="adj" fmla="val 18000"/>
            </a:avLst>
          </a:prstGeom>
          <a:solidFill>
            <a:srgbClr val="0E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2000"/>
              </a:lnSpc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Power BI 연동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3209544"/>
            <a:ext cx="8577072" cy="566928"/>
          </a:xfrm>
          <a:prstGeom prst="roundRect">
            <a:avLst>
              <a:gd name="adj" fmla="val 18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Power BI REST API · GenerateToken (Embed Token)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22776"/>
            <a:ext cx="2331720" cy="566928"/>
          </a:xfrm>
          <a:prstGeom prst="roundRect">
            <a:avLst>
              <a:gd name="adj" fmla="val 18000"/>
            </a:avLst>
          </a:prstGeom>
          <a:solidFill>
            <a:srgbClr val="12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2000"/>
              </a:lnSpc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데이터베이스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22776"/>
            <a:ext cx="8577072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PostgreSQL · psycopg2 (사용자/권한 관리)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36008"/>
            <a:ext cx="2331720" cy="566928"/>
          </a:xfrm>
          <a:prstGeom prst="roundRect">
            <a:avLst>
              <a:gd name="adj" fmla="val 18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2000"/>
              </a:lnSpc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세션·보안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63240" y="4636008"/>
            <a:ext cx="8577072" cy="566928"/>
          </a:xfrm>
          <a:prstGeom prst="roundRect">
            <a:avLst>
              <a:gd name="adj" fmla="val 18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starlette SessionMiddleware · itsdangerous · bcrypt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49240"/>
            <a:ext cx="2331720" cy="566928"/>
          </a:xfrm>
          <a:prstGeom prst="roundRect">
            <a:avLst>
              <a:gd name="adj" fmla="val 18000"/>
            </a:avLst>
          </a:prstGeom>
          <a:solidFill>
            <a:srgbClr val="0E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2000"/>
              </a:lnSpc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프론트엔드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63240" y="5349240"/>
            <a:ext cx="8577072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Jinja2 템플릿 · powerbi-client JS SDK · SPA 탭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Qualisoft  ·  Power BI Gateway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75488"/>
            <a:ext cx="91440" cy="566928"/>
          </a:xfrm>
          <a:prstGeom prst="roundRect">
            <a:avLst>
              <a:gd name="adj" fmla="val 50000"/>
            </a:avLst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100584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비용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32688"/>
            <a:ext cx="107899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같은 결과, 다른 청구서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335024"/>
            <a:ext cx="11073384" cy="0"/>
          </a:xfrm>
          <a:prstGeom prst="line">
            <a:avLst/>
          </a:prstGeom>
          <a:ln w="12700">
            <a:solidFill>
              <a:srgbClr val="D8DC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828800"/>
            <a:ext cx="3520440" cy="301752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>
              <a:lnSpc>
                <a:spcPct val="112000"/>
              </a:lnSpc>
              <a:spcAft>
                <a:spcPts val="1400"/>
              </a:spcAft>
            </a:pPr>
            <a:r>
              <a:rPr sz="1450" b="1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Pro 라이선스 전원 지급</a:t>
            </a:r>
          </a:p>
          <a:p>
            <a:pPr algn="ctr">
              <a:lnSpc>
                <a:spcPct val="112000"/>
              </a:lnSpc>
              <a:spcAft>
                <a:spcPts val="1400"/>
              </a:spcAft>
            </a:pPr>
            <a:r>
              <a:rPr sz="2500" b="1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$14/인 · 월</a:t>
            </a:r>
          </a:p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75명 기준 월 $1,050+
인원 증가 시 비용도 비례 증가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5112" y="1828800"/>
            <a:ext cx="3520440" cy="301752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>
              <a:lnSpc>
                <a:spcPct val="112000"/>
              </a:lnSpc>
              <a:spcAft>
                <a:spcPts val="1400"/>
              </a:spcAft>
            </a:pPr>
            <a:r>
              <a:rPr sz="1450" b="1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Azure Embedded A1</a:t>
            </a:r>
          </a:p>
          <a:p>
            <a:pPr algn="ctr">
              <a:lnSpc>
                <a:spcPct val="112000"/>
              </a:lnSpc>
              <a:spcAft>
                <a:spcPts val="1400"/>
              </a:spcAft>
            </a:pPr>
            <a:r>
              <a:rPr sz="2500" b="1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$735 / 월</a:t>
            </a:r>
          </a:p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전용 용량 구매
연 $8,800+ 고정 비용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3" y="1828800"/>
            <a:ext cx="3520440" cy="3017520"/>
          </a:xfrm>
          <a:prstGeom prst="roundRect">
            <a:avLst>
              <a:gd name="adj" fmla="val 8000"/>
            </a:avLst>
          </a:prstGeom>
          <a:solidFill>
            <a:srgbClr val="12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>
              <a:lnSpc>
                <a:spcPct val="112000"/>
              </a:lnSpc>
              <a:spcAft>
                <a:spcPts val="1400"/>
              </a:spcAft>
            </a:pPr>
            <a:r>
              <a:rPr sz="1450" b="1" i="0">
                <a:solidFill>
                  <a:srgbClr val="F2C811"/>
                </a:solidFill>
                <a:latin typeface="맑은 고딕"/>
                <a:ea typeface="맑은 고딕"/>
                <a:cs typeface="맑은 고딕"/>
              </a:rPr>
              <a:t>Power BI Gateway (현재)</a:t>
            </a:r>
          </a:p>
          <a:p>
            <a:pPr algn="ctr">
              <a:lnSpc>
                <a:spcPct val="112000"/>
              </a:lnSpc>
              <a:spcAft>
                <a:spcPts val="1400"/>
              </a:spcAft>
            </a:pPr>
            <a:r>
              <a:rPr sz="3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₩0 / 월</a:t>
            </a:r>
          </a:p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C9D1E4"/>
                </a:solidFill>
                <a:latin typeface="맑은 고딕"/>
                <a:ea typeface="맑은 고딕"/>
                <a:cs typeface="맑은 고딕"/>
              </a:rPr>
              <a:t>기존 회사 라이선스 활용
서버는 사내 자원으로 운영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1828800"/>
            <a:ext cx="3520440" cy="82296"/>
          </a:xfrm>
          <a:prstGeom prst="roundRect">
            <a:avLst>
              <a:gd name="adj" fmla="val 0"/>
            </a:avLst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5212080"/>
            <a:ext cx="11091672" cy="96012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0E8A7A"/>
                </a:solidFill>
                <a:latin typeface="맑은 고딕"/>
                <a:ea typeface="맑은 고딕"/>
                <a:cs typeface="맑은 고딕"/>
              </a:rPr>
              <a:t>확장 기준  </a:t>
            </a:r>
            <a:r>
              <a:rPr sz="1350" b="1" i="0">
                <a:solidFill>
                  <a:srgbClr val="212533"/>
                </a:solidFill>
                <a:latin typeface="맑은 고딕"/>
                <a:ea typeface="맑은 고딕"/>
                <a:cs typeface="맑은 고딕"/>
              </a:rPr>
              <a:t>동시 사용자 75명 이상으로 성장하면 Embedded A1 전환 검토 — 그 전까지는 추가 비용 없이 운영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Qualisoft  ·  Power BI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64008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66C7A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846320"/>
            <a:ext cx="3840480" cy="3840480"/>
          </a:xfrm>
          <a:prstGeom prst="ellipse">
            <a:avLst/>
          </a:prstGeom>
          <a:solidFill>
            <a:srgbClr val="1F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3291840" cy="3291840"/>
          </a:xfrm>
          <a:prstGeom prst="ellipse">
            <a:avLst/>
          </a:prstGeom>
          <a:solidFill>
            <a:srgbClr val="1F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77240"/>
            <a:ext cx="1188720" cy="118872"/>
          </a:xfrm>
          <a:prstGeom prst="roundRect">
            <a:avLst>
              <a:gd name="adj" fmla="val 50000"/>
            </a:avLst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005840"/>
            <a:ext cx="1051560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t>운영 &amp; 주의사항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960120" cy="411480"/>
          </a:xfrm>
          <a:prstGeom prst="roundRect">
            <a:avLst>
              <a:gd name="adj" fmla="val 50000"/>
            </a:avLst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2000"/>
              </a:lnSpc>
            </a:pPr>
            <a:r>
              <a:t>서버 운영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2468880" cy="1737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t>bash scripts/server.sh start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t>bash scripts/server.sh status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t>curl :8082/health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t>tail -f logs/server.log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79" y="2029968"/>
            <a:ext cx="4572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 i="0">
                <a:solidFill>
                  <a:srgbClr val="F2C811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057400"/>
            <a:ext cx="960120" cy="411480"/>
          </a:xfrm>
          <a:prstGeom prst="roundRect">
            <a:avLst>
              <a:gd name="adj" fmla="val 50000"/>
            </a:avLst>
          </a:prstGeom>
          <a:solidFill>
            <a:srgbClr val="1F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2000"/>
              </a:lnSpc>
            </a:pPr>
            <a:r>
              <a:t>Fabric 동기화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606040"/>
            <a:ext cx="2468880" cy="1737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t>Fabric에서 보고서 삭제 시 자동 반영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t>• 서버 시작 시 1회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t>• 10분 주기 자동 실행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t>• 열람 시 즉시 감지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029968"/>
            <a:ext cx="4572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 i="0">
                <a:solidFill>
                  <a:srgbClr val="F2C811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57400"/>
            <a:ext cx="960120" cy="411480"/>
          </a:xfrm>
          <a:prstGeom prst="roundRect">
            <a:avLst>
              <a:gd name="adj" fmla="val 50000"/>
            </a:avLst>
          </a:prstGeom>
          <a:solidFill>
            <a:srgbClr val="1F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2000"/>
              </a:lnSpc>
            </a:pPr>
            <a:r>
              <a:t>⚠ 제한사항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606040"/>
            <a:ext cx="2468880" cy="1737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t>보고서 이름은 워크스페이스 전체 유일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t>(폴더 달라도 같은 이름 불가)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t>충돌 시 자동 롤백 + 에러 안내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029968"/>
            <a:ext cx="4572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 i="0">
                <a:solidFill>
                  <a:srgbClr val="F2C811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2057400"/>
            <a:ext cx="960120" cy="411480"/>
          </a:xfrm>
          <a:prstGeom prst="roundRect">
            <a:avLst>
              <a:gd name="adj" fmla="val 50000"/>
            </a:avLst>
          </a:prstGeom>
          <a:solidFill>
            <a:srgbClr val="1F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2000"/>
              </a:lnSpc>
            </a:pPr>
            <a:r>
              <a:t>보안 체크리스트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2606040"/>
            <a:ext cx="2468880" cy="1737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t>✓ 비밀번호 bcrypt 해시만 저장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t>✓ 로그인 실패 횟수 차단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t>✓ CSRF 검증 (로그인/업로드)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t>⚠ 운영 시 HTTPS(nginx) 필수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4892040"/>
            <a:ext cx="10515600" cy="0"/>
          </a:xfrm>
          <a:prstGeom prst="line">
            <a:avLst/>
          </a:prstGeom>
          <a:ln w="15875">
            <a:solidFill>
              <a:srgbClr val="1F27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5257800"/>
            <a:ext cx="1060704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400" b="1" i="0">
                <a:solidFill>
                  <a:srgbClr val="F2C811"/>
                </a:solidFill>
                <a:latin typeface="맑은 고딕"/>
                <a:ea typeface="맑은 고딕"/>
                <a:cs typeface="맑은 고딕"/>
              </a:rPr>
              <a:t>“라이선스의 벽을 넘어, 데이터가 모두에게.”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E97B3"/>
                </a:solidFill>
                <a:latin typeface="맑은 고딕"/>
                <a:ea typeface="맑은 고딕"/>
                <a:cs typeface="맑은 고딕"/>
              </a:rPr>
              <a:t>Power BI Gateway  ·  Qualisoft  ·  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